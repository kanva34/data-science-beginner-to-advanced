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4" r:id="rId11"/>
    <p:sldId id="272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6402-E90F-44B9-91D8-8EB4912486B5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2EAE2-A8BC-4B60-9A5F-2D264D465FCB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6402-E90F-44B9-91D8-8EB4912486B5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2EAE2-A8BC-4B60-9A5F-2D264D465FCB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6402-E90F-44B9-91D8-8EB4912486B5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2EAE2-A8BC-4B60-9A5F-2D264D465FCB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6402-E90F-44B9-91D8-8EB4912486B5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2EAE2-A8BC-4B60-9A5F-2D264D465FCB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6402-E90F-44B9-91D8-8EB4912486B5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2EAE2-A8BC-4B60-9A5F-2D264D465FCB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6402-E90F-44B9-91D8-8EB4912486B5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2EAE2-A8BC-4B60-9A5F-2D264D465FCB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6402-E90F-44B9-91D8-8EB4912486B5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2EAE2-A8BC-4B60-9A5F-2D264D465FCB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6402-E90F-44B9-91D8-8EB4912486B5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2EAE2-A8BC-4B60-9A5F-2D264D465FCB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6402-E90F-44B9-91D8-8EB4912486B5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2EAE2-A8BC-4B60-9A5F-2D264D465FCB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6402-E90F-44B9-91D8-8EB4912486B5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2EAE2-A8BC-4B60-9A5F-2D264D465FCB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6402-E90F-44B9-91D8-8EB4912486B5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2EAE2-A8BC-4B60-9A5F-2D264D465FCB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86402-E90F-44B9-91D8-8EB4912486B5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72EAE2-A8BC-4B60-9A5F-2D264D465FCB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hyperlink" Target="http://www.google.co.uk/url?sa=i&amp;rct=j&amp;q=&amp;esrc=s&amp;source=images&amp;cd=&amp;cad=rja&amp;uact=8&amp;ved=0ahUKEwjd_fC-_oDLAhXEORQKHf75AyQQjRwIBw&amp;url=http://www.statisticshowto.com/what-is-standard-deviation/&amp;psig=AFQjCNFvOukWxg7bldEgjYVMVkXOyvUWQQ&amp;ust=1455873697016913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39782" y="296888"/>
            <a:ext cx="11246070" cy="6001406"/>
          </a:xfrm>
          <a:prstGeom prst="roundRect">
            <a:avLst>
              <a:gd name="adj" fmla="val 3810"/>
            </a:avLst>
          </a:prstGeom>
          <a:noFill/>
          <a:ln w="762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07648" y="-89764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3" y="-89764"/>
            <a:ext cx="423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  <a:hlinkClick r:id="" action="ppaction://hlinkshowjump?jump=firstslide"/>
              </a:rPr>
              <a:t>National 5 Applications of Maths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25912" y="14273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18292" y="1796688"/>
            <a:ext cx="104477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Trebuchet MS" panose="020B0603020202020204" pitchFamily="34" charset="0"/>
              </a:rPr>
              <a:t>Standard Deviation is commonly known as the measure of the “</a:t>
            </a:r>
            <a:r>
              <a:rPr lang="en-GB" sz="2400" u="sng" dirty="0">
                <a:latin typeface="Trebuchet MS" panose="020B0603020202020204" pitchFamily="34" charset="0"/>
              </a:rPr>
              <a:t>spread of data</a:t>
            </a:r>
            <a:r>
              <a:rPr lang="en-GB" sz="2400" dirty="0">
                <a:latin typeface="Trebuchet MS" panose="020B0603020202020204" pitchFamily="34" charset="0"/>
              </a:rPr>
              <a:t>”.</a:t>
            </a:r>
            <a:endParaRPr lang="en-GB" sz="2400" dirty="0">
              <a:latin typeface="Trebuchet MS" panose="020B0603020202020204" pitchFamily="34" charset="0"/>
            </a:endParaRPr>
          </a:p>
          <a:p>
            <a:endParaRPr lang="en-GB" sz="2400" dirty="0">
              <a:latin typeface="Trebuchet MS" panose="020B0603020202020204" pitchFamily="34" charset="0"/>
            </a:endParaRPr>
          </a:p>
          <a:p>
            <a:r>
              <a:rPr lang="en-GB" sz="2400" dirty="0">
                <a:latin typeface="Trebuchet MS" panose="020B0603020202020204" pitchFamily="34" charset="0"/>
              </a:rPr>
              <a:t>The standard deviation is the measure of on average how close the data is to the mean.</a:t>
            </a:r>
            <a:endParaRPr lang="en-GB" sz="24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39782" y="296888"/>
            <a:ext cx="11246070" cy="6001406"/>
          </a:xfrm>
          <a:prstGeom prst="roundRect">
            <a:avLst>
              <a:gd name="adj" fmla="val 3810"/>
            </a:avLst>
          </a:prstGeom>
          <a:noFill/>
          <a:ln w="762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07648" y="-89764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3" y="-89764"/>
            <a:ext cx="423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  <a:hlinkClick r:id="" action="ppaction://hlinkshowjump?jump=firstslide"/>
              </a:rPr>
              <a:t>National 5 Applications of Maths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25912" y="14273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Content Placeholder 2"/>
          <p:cNvSpPr txBox="1"/>
          <p:nvPr/>
        </p:nvSpPr>
        <p:spPr>
          <a:xfrm>
            <a:off x="1025912" y="1114426"/>
            <a:ext cx="10334196" cy="38058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200" dirty="0">
                <a:solidFill>
                  <a:schemeClr val="tx1"/>
                </a:solidFill>
                <a:latin typeface="Trebuchet MS" panose="020B0603020202020204" pitchFamily="34" charset="0"/>
              </a:rPr>
              <a:t>So if the Standard Deviation is small then values in the data are close to the mean</a:t>
            </a:r>
            <a:endParaRPr lang="en-GB" sz="22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algn="l"/>
            <a:endParaRPr lang="en-GB" sz="22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algn="l"/>
            <a:r>
              <a:rPr lang="en-GB" sz="2200" dirty="0">
                <a:solidFill>
                  <a:schemeClr val="tx1"/>
                </a:solidFill>
                <a:latin typeface="Trebuchet MS" panose="020B0603020202020204" pitchFamily="34" charset="0"/>
              </a:rPr>
              <a:t>If the standard deviation is big then the data is more spread out.</a:t>
            </a:r>
            <a:endParaRPr lang="en-GB" sz="22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endParaRPr lang="en-GB" sz="2200" dirty="0">
              <a:latin typeface="Trebuchet MS" panose="020B0603020202020204" pitchFamily="34" charset="0"/>
            </a:endParaRPr>
          </a:p>
        </p:txBody>
      </p:sp>
      <p:pic>
        <p:nvPicPr>
          <p:cNvPr id="9" name="Picture 2" descr="http://www.statisticshowto.com/wp-content/uploads/2012/11/standard-deviation-examples1.png">
            <a:hlinkClick r:id="rId1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3317" y="3223318"/>
            <a:ext cx="4568987" cy="251452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39782" y="296888"/>
            <a:ext cx="11246070" cy="6001406"/>
          </a:xfrm>
          <a:prstGeom prst="roundRect">
            <a:avLst>
              <a:gd name="adj" fmla="val 3810"/>
            </a:avLst>
          </a:prstGeom>
          <a:noFill/>
          <a:ln w="762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07648" y="-89764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3" y="-89764"/>
            <a:ext cx="423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  <a:hlinkClick r:id="" action="ppaction://hlinkshowjump?jump=firstslide"/>
              </a:rPr>
              <a:t>National 5 Applications of Maths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25912" y="14273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Content Placeholder 2"/>
          <p:cNvSpPr txBox="1"/>
          <p:nvPr/>
        </p:nvSpPr>
        <p:spPr>
          <a:xfrm>
            <a:off x="1647752" y="1056727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u="sng" dirty="0">
                <a:solidFill>
                  <a:schemeClr val="tx1"/>
                </a:solidFill>
                <a:latin typeface="Trebuchet MS" panose="020B0603020202020204" pitchFamily="34" charset="0"/>
              </a:rPr>
              <a:t>If the Standard Deviation is high</a:t>
            </a:r>
            <a:endParaRPr lang="en-GB" sz="2800" u="sng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lvl="1"/>
            <a:r>
              <a:rPr lang="en-GB" sz="2400" dirty="0">
                <a:solidFill>
                  <a:schemeClr val="tx1"/>
                </a:solidFill>
                <a:latin typeface="Trebuchet MS" panose="020B0603020202020204" pitchFamily="34" charset="0"/>
              </a:rPr>
              <a:t>Greater spread of results</a:t>
            </a:r>
            <a:endParaRPr lang="en-GB" sz="24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lvl="1"/>
            <a:r>
              <a:rPr lang="en-GB" sz="2400" dirty="0">
                <a:solidFill>
                  <a:schemeClr val="tx1"/>
                </a:solidFill>
                <a:latin typeface="Trebuchet MS" panose="020B0603020202020204" pitchFamily="34" charset="0"/>
              </a:rPr>
              <a:t>Results vary more (more varied)</a:t>
            </a:r>
            <a:endParaRPr lang="en-GB" sz="24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lvl="1"/>
            <a:r>
              <a:rPr lang="en-GB" sz="2400" dirty="0">
                <a:solidFill>
                  <a:schemeClr val="tx1"/>
                </a:solidFill>
                <a:latin typeface="Trebuchet MS" panose="020B0603020202020204" pitchFamily="34" charset="0"/>
              </a:rPr>
              <a:t>Less consistent</a:t>
            </a:r>
            <a:endParaRPr lang="en-GB" sz="24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endParaRPr lang="en-GB" sz="28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r>
              <a:rPr lang="en-GB" sz="2800" u="sng" dirty="0">
                <a:solidFill>
                  <a:schemeClr val="tx1"/>
                </a:solidFill>
                <a:latin typeface="Trebuchet MS" panose="020B0603020202020204" pitchFamily="34" charset="0"/>
              </a:rPr>
              <a:t>If the Standard Deviation is low</a:t>
            </a:r>
            <a:endParaRPr lang="en-GB" sz="2800" u="sng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lvl="1"/>
            <a:r>
              <a:rPr lang="en-GB" sz="2400" dirty="0">
                <a:solidFill>
                  <a:schemeClr val="tx1"/>
                </a:solidFill>
                <a:latin typeface="Trebuchet MS" panose="020B0603020202020204" pitchFamily="34" charset="0"/>
              </a:rPr>
              <a:t>Results are less spread out</a:t>
            </a:r>
            <a:endParaRPr lang="en-GB" sz="24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lvl="1"/>
            <a:r>
              <a:rPr lang="en-GB" sz="2400" dirty="0">
                <a:solidFill>
                  <a:schemeClr val="tx1"/>
                </a:solidFill>
                <a:latin typeface="Trebuchet MS" panose="020B0603020202020204" pitchFamily="34" charset="0"/>
              </a:rPr>
              <a:t>Vary less (less varied)</a:t>
            </a:r>
            <a:endParaRPr lang="en-GB" sz="24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lvl="1"/>
            <a:r>
              <a:rPr lang="en-GB" sz="2400" dirty="0">
                <a:solidFill>
                  <a:schemeClr val="tx1"/>
                </a:solidFill>
                <a:latin typeface="Trebuchet MS" panose="020B0603020202020204" pitchFamily="34" charset="0"/>
              </a:rPr>
              <a:t>More consistent</a:t>
            </a:r>
            <a:endParaRPr lang="en-GB" sz="24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lvl="1"/>
            <a:endParaRPr lang="en-GB" sz="24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lvl="1"/>
            <a:endParaRPr lang="en-GB" sz="24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lvl="1"/>
            <a:endParaRPr lang="en-GB" sz="2400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lvl="1"/>
            <a:endParaRPr lang="en-GB" dirty="0">
              <a:solidFill>
                <a:schemeClr val="tx1"/>
              </a:solidFill>
            </a:endParaRPr>
          </a:p>
          <a:p>
            <a:pPr lvl="1"/>
            <a:endParaRPr lang="en-GB" dirty="0">
              <a:solidFill>
                <a:schemeClr val="tx1"/>
              </a:solidFill>
            </a:endParaRPr>
          </a:p>
          <a:p>
            <a:pPr lvl="1"/>
            <a:endParaRPr lang="en-GB" dirty="0">
              <a:solidFill>
                <a:schemeClr val="tx1"/>
              </a:solidFill>
            </a:endParaRPr>
          </a:p>
          <a:p>
            <a:pPr lvl="1"/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39782" y="296888"/>
            <a:ext cx="11246070" cy="6001406"/>
          </a:xfrm>
          <a:prstGeom prst="roundRect">
            <a:avLst>
              <a:gd name="adj" fmla="val 3810"/>
            </a:avLst>
          </a:prstGeom>
          <a:noFill/>
          <a:ln w="762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07648" y="-89764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6148" y="512331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3" y="-89764"/>
            <a:ext cx="423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  <a:hlinkClick r:id="" action="ppaction://hlinkshowjump?jump=firstslide"/>
              </a:rPr>
              <a:t>National 5 Applications of Maths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25912" y="14273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662254" y="1329870"/>
            <a:ext cx="244827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1,1,1,1,1,1,1,1,1,1,1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6557455" y="5125044"/>
            <a:ext cx="244827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0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2696299" y="2265974"/>
            <a:ext cx="244827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1, 105, 400, 1000, 21000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6557455" y="4138182"/>
            <a:ext cx="244827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Approx. 8000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2696299" y="3222784"/>
            <a:ext cx="244827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5, 10, 15, 20, 25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2696299" y="4138182"/>
            <a:ext cx="244827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90, 91, 92, 92, 93, 93</a:t>
            </a:r>
            <a:endParaRPr lang="en-GB" dirty="0"/>
          </a:p>
        </p:txBody>
      </p:sp>
      <p:sp>
        <p:nvSpPr>
          <p:cNvPr id="15" name="Rectangle 14"/>
          <p:cNvSpPr/>
          <p:nvPr/>
        </p:nvSpPr>
        <p:spPr>
          <a:xfrm>
            <a:off x="2696299" y="5074286"/>
            <a:ext cx="244827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80,81, 82, 90, 100, 110, 130</a:t>
            </a:r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6554551" y="2301706"/>
            <a:ext cx="244827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Approx</a:t>
            </a:r>
            <a:r>
              <a:rPr lang="en-GB" dirty="0"/>
              <a:t> 2.3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6557455" y="3222784"/>
            <a:ext cx="244827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Approx</a:t>
            </a:r>
            <a:r>
              <a:rPr lang="en-GB" dirty="0"/>
              <a:t> 7</a:t>
            </a:r>
            <a:endParaRPr lang="en-GB" dirty="0"/>
          </a:p>
        </p:txBody>
      </p:sp>
      <p:sp>
        <p:nvSpPr>
          <p:cNvPr id="18" name="Rectangle 17"/>
          <p:cNvSpPr/>
          <p:nvPr/>
        </p:nvSpPr>
        <p:spPr>
          <a:xfrm>
            <a:off x="6557455" y="1329870"/>
            <a:ext cx="2448272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Approx</a:t>
            </a:r>
            <a:r>
              <a:rPr lang="en-GB" dirty="0"/>
              <a:t> 11</a:t>
            </a:r>
            <a:endParaRPr lang="en-GB" dirty="0"/>
          </a:p>
        </p:txBody>
      </p:sp>
      <p:cxnSp>
        <p:nvCxnSpPr>
          <p:cNvPr id="19" name="Straight Connector 18"/>
          <p:cNvCxnSpPr>
            <a:stCxn id="7" idx="3"/>
            <a:endCxn id="9" idx="1"/>
          </p:cNvCxnSpPr>
          <p:nvPr/>
        </p:nvCxnSpPr>
        <p:spPr>
          <a:xfrm>
            <a:off x="5110526" y="1653906"/>
            <a:ext cx="1446929" cy="379517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11" idx="1"/>
          </p:cNvCxnSpPr>
          <p:nvPr/>
        </p:nvCxnSpPr>
        <p:spPr>
          <a:xfrm>
            <a:off x="5144571" y="2601664"/>
            <a:ext cx="1412884" cy="186055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16" idx="1"/>
          </p:cNvCxnSpPr>
          <p:nvPr/>
        </p:nvCxnSpPr>
        <p:spPr>
          <a:xfrm flipV="1">
            <a:off x="5110526" y="2625742"/>
            <a:ext cx="1444025" cy="90619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18" idx="1"/>
          </p:cNvCxnSpPr>
          <p:nvPr/>
        </p:nvCxnSpPr>
        <p:spPr>
          <a:xfrm flipV="1">
            <a:off x="5159603" y="1653906"/>
            <a:ext cx="1397852" cy="280831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17" idx="1"/>
          </p:cNvCxnSpPr>
          <p:nvPr/>
        </p:nvCxnSpPr>
        <p:spPr>
          <a:xfrm flipV="1">
            <a:off x="5110526" y="3546820"/>
            <a:ext cx="1446929" cy="198056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39782" y="296888"/>
            <a:ext cx="11246070" cy="6001406"/>
          </a:xfrm>
          <a:prstGeom prst="roundRect">
            <a:avLst>
              <a:gd name="adj" fmla="val 3810"/>
            </a:avLst>
          </a:prstGeom>
          <a:noFill/>
          <a:ln w="762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07648" y="-89764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3" y="-89764"/>
            <a:ext cx="423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  <a:hlinkClick r:id="" action="ppaction://hlinkshowjump?jump=firstslide"/>
              </a:rPr>
              <a:t>National 5 Applications of Maths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25912" y="14273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 descr="A picture containing clock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71" y="1090633"/>
            <a:ext cx="10912612" cy="31225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39782" y="296888"/>
            <a:ext cx="11246070" cy="6001406"/>
          </a:xfrm>
          <a:prstGeom prst="roundRect">
            <a:avLst>
              <a:gd name="adj" fmla="val 3810"/>
            </a:avLst>
          </a:prstGeom>
          <a:noFill/>
          <a:ln w="762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07648" y="-89764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3" y="-89764"/>
            <a:ext cx="423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  <a:hlinkClick r:id="" action="ppaction://hlinkshowjump?jump=firstslide"/>
              </a:rPr>
              <a:t>National 5 Applications of Maths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25912" y="1427356"/>
            <a:ext cx="236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rebuchet MS" panose="020B0603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81473" y="419482"/>
            <a:ext cx="2337794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lang="en-GB" u="sng" dirty="0">
                <a:latin typeface="Trebuchet MS" panose="020B0603020202020204" pitchFamily="34" charset="0"/>
              </a:rPr>
              <a:t>Example 1</a:t>
            </a:r>
            <a:endParaRPr lang="en-US" u="sng" dirty="0">
              <a:latin typeface="Trebuchet MS" panose="020B0603020202020204" pitchFamily="34" charset="0"/>
            </a:endParaRPr>
          </a:p>
        </p:txBody>
      </p:sp>
      <p:sp>
        <p:nvSpPr>
          <p:cNvPr id="8" name="Text Box 25"/>
          <p:cNvSpPr txBox="1">
            <a:spLocks noChangeArrowheads="1"/>
          </p:cNvSpPr>
          <p:nvPr/>
        </p:nvSpPr>
        <p:spPr bwMode="auto">
          <a:xfrm>
            <a:off x="2494629" y="461540"/>
            <a:ext cx="865398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lang="en-GB" dirty="0">
                <a:latin typeface="Trebuchet MS" panose="020B0603020202020204" pitchFamily="34" charset="0"/>
              </a:rPr>
              <a:t>Find the standard deviation of the</a:t>
            </a:r>
            <a:endParaRPr lang="en-GB" dirty="0">
              <a:latin typeface="Trebuchet MS" panose="020B0603020202020204" pitchFamily="34" charset="0"/>
            </a:endParaRPr>
          </a:p>
          <a:p>
            <a:pPr eaLnBrk="1" hangingPunct="1"/>
            <a:r>
              <a:rPr lang="en-GB" dirty="0">
                <a:latin typeface="Trebuchet MS" panose="020B0603020202020204" pitchFamily="34" charset="0"/>
              </a:rPr>
              <a:t>following data: 1, 3, 3, 4, 5, 5, 6, 7, 7, 7</a:t>
            </a:r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39782" y="296888"/>
            <a:ext cx="11246070" cy="6001406"/>
          </a:xfrm>
          <a:prstGeom prst="roundRect">
            <a:avLst>
              <a:gd name="adj" fmla="val 3810"/>
            </a:avLst>
          </a:prstGeom>
          <a:noFill/>
          <a:ln w="762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07648" y="-89764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3" y="-89764"/>
            <a:ext cx="423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  <a:hlinkClick r:id="" action="ppaction://hlinkshowjump?jump=firstslide"/>
              </a:rPr>
              <a:t>National 5 Applications of Maths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41301" y="10480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90015" y="559706"/>
            <a:ext cx="189827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lang="en-GB" u="sng" dirty="0">
                <a:latin typeface="Trebuchet MS" panose="020B0603020202020204" pitchFamily="34" charset="0"/>
              </a:rPr>
              <a:t>Example 2</a:t>
            </a:r>
            <a:endParaRPr lang="en-US" u="sng" dirty="0">
              <a:latin typeface="Trebuchet MS" panose="020B0603020202020204" pitchFamily="34" charset="0"/>
            </a:endParaRPr>
          </a:p>
        </p:txBody>
      </p:sp>
      <p:sp>
        <p:nvSpPr>
          <p:cNvPr id="8" name="Text Box 25"/>
          <p:cNvSpPr txBox="1">
            <a:spLocks noChangeArrowheads="1"/>
          </p:cNvSpPr>
          <p:nvPr/>
        </p:nvSpPr>
        <p:spPr bwMode="auto">
          <a:xfrm>
            <a:off x="2634702" y="559706"/>
            <a:ext cx="638347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lang="en-GB" dirty="0">
                <a:latin typeface="Trebuchet MS" panose="020B0603020202020204" pitchFamily="34" charset="0"/>
              </a:rPr>
              <a:t>Find the standard deviation of the</a:t>
            </a:r>
            <a:endParaRPr lang="en-GB" dirty="0">
              <a:latin typeface="Trebuchet MS" panose="020B0603020202020204" pitchFamily="34" charset="0"/>
            </a:endParaRPr>
          </a:p>
          <a:p>
            <a:pPr eaLnBrk="1" hangingPunct="1"/>
            <a:r>
              <a:rPr lang="en-GB" dirty="0">
                <a:latin typeface="Trebuchet MS" panose="020B0603020202020204" pitchFamily="34" charset="0"/>
              </a:rPr>
              <a:t>following data: 2, 5, 11, 14, 14, 22, 37</a:t>
            </a:r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39782" y="296888"/>
            <a:ext cx="11246070" cy="6001406"/>
          </a:xfrm>
          <a:prstGeom prst="roundRect">
            <a:avLst>
              <a:gd name="adj" fmla="val 3810"/>
            </a:avLst>
          </a:prstGeom>
          <a:noFill/>
          <a:ln w="762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07648" y="-89764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3" y="-89764"/>
            <a:ext cx="423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  <a:hlinkClick r:id="" action="ppaction://hlinkshowjump?jump=firstslide"/>
              </a:rPr>
              <a:t>National 5 Applications of Maths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25912" y="1427356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200" dirty="0"/>
          </a:p>
        </p:txBody>
      </p:sp>
      <p:sp>
        <p:nvSpPr>
          <p:cNvPr id="7" name="TextBox 6"/>
          <p:cNvSpPr txBox="1"/>
          <p:nvPr/>
        </p:nvSpPr>
        <p:spPr>
          <a:xfrm>
            <a:off x="1541301" y="1048057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200" dirty="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690015" y="411693"/>
            <a:ext cx="216597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lang="en-GB" sz="2200" u="sng" dirty="0">
                <a:latin typeface="Trebuchet MS" panose="020B0603020202020204" pitchFamily="34" charset="0"/>
              </a:rPr>
              <a:t>Exam Questions</a:t>
            </a:r>
            <a:endParaRPr lang="en-US" sz="2200" u="sng" dirty="0">
              <a:latin typeface="Trebuchet MS" panose="020B0603020202020204" pitchFamily="34" charset="0"/>
            </a:endParaRPr>
          </a:p>
        </p:txBody>
      </p:sp>
      <p:sp>
        <p:nvSpPr>
          <p:cNvPr id="9" name="Text Box 25"/>
          <p:cNvSpPr txBox="1">
            <a:spLocks noChangeArrowheads="1"/>
          </p:cNvSpPr>
          <p:nvPr/>
        </p:nvSpPr>
        <p:spPr bwMode="auto">
          <a:xfrm>
            <a:off x="690015" y="899155"/>
            <a:ext cx="7467109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lang="en-GB" sz="2200" dirty="0">
                <a:latin typeface="Trebuchet MS" panose="020B0603020202020204" pitchFamily="34" charset="0"/>
              </a:rPr>
              <a:t>Example 1: The price of milk in shops are as follows</a:t>
            </a:r>
            <a:endParaRPr lang="en-GB" sz="2200" dirty="0">
              <a:latin typeface="Trebuchet MS" panose="020B0603020202020204" pitchFamily="34" charset="0"/>
            </a:endParaRPr>
          </a:p>
          <a:p>
            <a:pPr eaLnBrk="1" hangingPunct="1"/>
            <a:r>
              <a:rPr lang="en-GB" sz="2200" dirty="0">
                <a:latin typeface="Trebuchet MS" panose="020B0603020202020204" pitchFamily="34" charset="0"/>
              </a:rPr>
              <a:t>	49	44	41	52	47	43</a:t>
            </a:r>
            <a:endParaRPr lang="en-GB" sz="2200" dirty="0">
              <a:latin typeface="Trebuchet MS" panose="020B0603020202020204" pitchFamily="34" charset="0"/>
            </a:endParaRPr>
          </a:p>
          <a:p>
            <a:pPr eaLnBrk="1" hangingPunct="1"/>
            <a:r>
              <a:rPr lang="en-GB" sz="2200" dirty="0">
                <a:latin typeface="Trebuchet MS" panose="020B0603020202020204" pitchFamily="34" charset="0"/>
              </a:rPr>
              <a:t>a) Find mean and standard deviation of the prices of milk</a:t>
            </a:r>
            <a:endParaRPr lang="en-GB" sz="2200" dirty="0">
              <a:latin typeface="Trebuchet MS" panose="020B0603020202020204" pitchFamily="34" charset="0"/>
            </a:endParaRPr>
          </a:p>
          <a:p>
            <a:pPr eaLnBrk="1" hangingPunct="1"/>
            <a:endParaRPr lang="en-US" sz="22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39782" y="296888"/>
            <a:ext cx="11246070" cy="6001406"/>
          </a:xfrm>
          <a:prstGeom prst="roundRect">
            <a:avLst>
              <a:gd name="adj" fmla="val 3810"/>
            </a:avLst>
          </a:prstGeom>
          <a:noFill/>
          <a:ln w="762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07648" y="-89764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3" y="-89764"/>
            <a:ext cx="423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  <a:hlinkClick r:id="" action="ppaction://hlinkshowjump?jump=firstslide"/>
              </a:rPr>
              <a:t>National 5 Applications of Maths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25912" y="1427356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200" dirty="0"/>
          </a:p>
        </p:txBody>
      </p:sp>
      <p:sp>
        <p:nvSpPr>
          <p:cNvPr id="7" name="TextBox 6"/>
          <p:cNvSpPr txBox="1"/>
          <p:nvPr/>
        </p:nvSpPr>
        <p:spPr>
          <a:xfrm>
            <a:off x="1541301" y="1048057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200" dirty="0"/>
          </a:p>
        </p:txBody>
      </p:sp>
      <p:sp>
        <p:nvSpPr>
          <p:cNvPr id="9" name="Text Box 25"/>
          <p:cNvSpPr txBox="1">
            <a:spLocks noChangeArrowheads="1"/>
          </p:cNvSpPr>
          <p:nvPr/>
        </p:nvSpPr>
        <p:spPr bwMode="auto">
          <a:xfrm>
            <a:off x="689100" y="580970"/>
            <a:ext cx="9961599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lang="en-GB" sz="2200" dirty="0">
                <a:latin typeface="Trebuchet MS" panose="020B0603020202020204" pitchFamily="34" charset="0"/>
              </a:rPr>
              <a:t>Example 1: The price of milk in shops are as follows</a:t>
            </a:r>
            <a:endParaRPr lang="en-GB" sz="2200" dirty="0">
              <a:latin typeface="Trebuchet MS" panose="020B0603020202020204" pitchFamily="34" charset="0"/>
            </a:endParaRPr>
          </a:p>
          <a:p>
            <a:pPr eaLnBrk="1" hangingPunct="1"/>
            <a:r>
              <a:rPr lang="en-GB" sz="2200" dirty="0">
                <a:latin typeface="Trebuchet MS" panose="020B0603020202020204" pitchFamily="34" charset="0"/>
              </a:rPr>
              <a:t>	49	44	41	52	47	43</a:t>
            </a:r>
            <a:endParaRPr lang="en-GB" sz="2200" dirty="0">
              <a:latin typeface="Trebuchet MS" panose="020B0603020202020204" pitchFamily="34" charset="0"/>
            </a:endParaRPr>
          </a:p>
          <a:p>
            <a:pPr eaLnBrk="1" hangingPunct="1"/>
            <a:r>
              <a:rPr lang="en-GB" sz="2200" dirty="0">
                <a:latin typeface="Trebuchet MS" panose="020B0603020202020204" pitchFamily="34" charset="0"/>
              </a:rPr>
              <a:t>b) The prices of sugar in shops have an average prove of 52p and a standard deviation of 3.9. Make two valid comparisons between the prices of milk and sugar.</a:t>
            </a:r>
            <a:endParaRPr lang="en-GB" sz="2200" dirty="0">
              <a:latin typeface="Trebuchet MS" panose="020B0603020202020204" pitchFamily="34" charset="0"/>
            </a:endParaRPr>
          </a:p>
          <a:p>
            <a:pPr eaLnBrk="1" hangingPunct="1"/>
            <a:endParaRPr lang="en-US" sz="22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39782" y="296888"/>
            <a:ext cx="11246070" cy="6001406"/>
          </a:xfrm>
          <a:prstGeom prst="roundRect">
            <a:avLst>
              <a:gd name="adj" fmla="val 3810"/>
            </a:avLst>
          </a:prstGeom>
          <a:noFill/>
          <a:ln w="762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07648" y="-89764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3" y="-89764"/>
            <a:ext cx="423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  <a:hlinkClick r:id="" action="ppaction://hlinkshowjump?jump=firstslide"/>
              </a:rPr>
              <a:t>National 5 Applications of Maths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71760" y="10879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71760" y="1087907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1487149" y="708608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200" dirty="0"/>
          </a:p>
        </p:txBody>
      </p:sp>
      <p:sp>
        <p:nvSpPr>
          <p:cNvPr id="10" name="Text Box 25"/>
          <p:cNvSpPr txBox="1">
            <a:spLocks noChangeArrowheads="1"/>
          </p:cNvSpPr>
          <p:nvPr/>
        </p:nvSpPr>
        <p:spPr bwMode="auto">
          <a:xfrm>
            <a:off x="635863" y="559706"/>
            <a:ext cx="10733772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lang="en-GB" sz="2200" dirty="0">
                <a:latin typeface="Trebuchet MS" panose="020B0603020202020204" pitchFamily="34" charset="0"/>
              </a:rPr>
              <a:t>Example 2: The prices (in pounds) of 6 two-bedroom flats in Glasgow are as follows</a:t>
            </a:r>
            <a:endParaRPr lang="en-GB" sz="2200" dirty="0">
              <a:latin typeface="Trebuchet MS" panose="020B0603020202020204" pitchFamily="34" charset="0"/>
            </a:endParaRPr>
          </a:p>
          <a:p>
            <a:pPr eaLnBrk="1" hangingPunct="1"/>
            <a:endParaRPr lang="en-GB" sz="2200" dirty="0">
              <a:latin typeface="Trebuchet MS" panose="020B0603020202020204" pitchFamily="34" charset="0"/>
            </a:endParaRPr>
          </a:p>
          <a:p>
            <a:pPr eaLnBrk="1" hangingPunct="1"/>
            <a:r>
              <a:rPr lang="en-GB" sz="2200" dirty="0">
                <a:latin typeface="Trebuchet MS" panose="020B0603020202020204" pitchFamily="34" charset="0"/>
              </a:rPr>
              <a:t>85000	     98000	140000	       110000	    120000	</a:t>
            </a:r>
            <a:endParaRPr lang="en-GB" sz="2200" dirty="0">
              <a:latin typeface="Trebuchet MS" panose="020B0603020202020204" pitchFamily="34" charset="0"/>
            </a:endParaRPr>
          </a:p>
          <a:p>
            <a:pPr eaLnBrk="1" hangingPunct="1"/>
            <a:endParaRPr lang="en-GB" sz="2200" dirty="0">
              <a:latin typeface="Trebuchet MS" panose="020B0603020202020204" pitchFamily="34" charset="0"/>
            </a:endParaRPr>
          </a:p>
          <a:p>
            <a:pPr eaLnBrk="1" hangingPunct="1"/>
            <a:r>
              <a:rPr lang="en-GB" sz="2200" dirty="0">
                <a:latin typeface="Trebuchet MS" panose="020B0603020202020204" pitchFamily="34" charset="0"/>
              </a:rPr>
              <a:t>a) Calculate the mean and standard deviation of the prices of the flats.	 </a:t>
            </a:r>
            <a:endParaRPr lang="en-US" sz="22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39782" y="296888"/>
            <a:ext cx="11246070" cy="6001406"/>
          </a:xfrm>
          <a:prstGeom prst="roundRect">
            <a:avLst>
              <a:gd name="adj" fmla="val 3810"/>
            </a:avLst>
          </a:prstGeom>
          <a:noFill/>
          <a:ln w="762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9407648" y="-89764"/>
            <a:ext cx="25795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</a:rPr>
              <a:t>Standard Deviation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3" y="-89764"/>
            <a:ext cx="42359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latin typeface="Trebuchet MS" panose="020B0603020202020204" pitchFamily="34" charset="0"/>
                <a:hlinkClick r:id="" action="ppaction://hlinkshowjump?jump=firstslide"/>
              </a:rPr>
              <a:t>National 5 Applications of Maths</a:t>
            </a:r>
            <a:endParaRPr lang="en-GB" sz="2200" dirty="0">
              <a:latin typeface="Trebuchet MS" panose="020B06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71760" y="10879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71760" y="1087907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1487149" y="708608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200" dirty="0"/>
          </a:p>
        </p:txBody>
      </p:sp>
      <p:sp>
        <p:nvSpPr>
          <p:cNvPr id="10" name="Text Box 25"/>
          <p:cNvSpPr txBox="1">
            <a:spLocks noChangeArrowheads="1"/>
          </p:cNvSpPr>
          <p:nvPr/>
        </p:nvSpPr>
        <p:spPr bwMode="auto">
          <a:xfrm>
            <a:off x="635863" y="559706"/>
            <a:ext cx="11049989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/>
            <a:r>
              <a:rPr lang="en-GB" sz="2200" dirty="0">
                <a:latin typeface="Trebuchet MS" panose="020B0603020202020204" pitchFamily="34" charset="0"/>
              </a:rPr>
              <a:t>Example 2: The prices (in pounds) of 6 two-bedroom flats in Glasgow are as follows</a:t>
            </a:r>
            <a:endParaRPr lang="en-GB" sz="2200" dirty="0">
              <a:latin typeface="Trebuchet MS" panose="020B0603020202020204" pitchFamily="34" charset="0"/>
            </a:endParaRPr>
          </a:p>
          <a:p>
            <a:pPr eaLnBrk="1" hangingPunct="1"/>
            <a:endParaRPr lang="en-GB" sz="2200" dirty="0">
              <a:latin typeface="Trebuchet MS" panose="020B0603020202020204" pitchFamily="34" charset="0"/>
            </a:endParaRPr>
          </a:p>
          <a:p>
            <a:pPr eaLnBrk="1" hangingPunct="1"/>
            <a:r>
              <a:rPr lang="en-GB" sz="2200" dirty="0">
                <a:latin typeface="Trebuchet MS" panose="020B0603020202020204" pitchFamily="34" charset="0"/>
              </a:rPr>
              <a:t>85000	     98000	140000	       110000	    120000	</a:t>
            </a:r>
            <a:endParaRPr lang="en-GB" sz="2200" dirty="0">
              <a:latin typeface="Trebuchet MS" panose="020B0603020202020204" pitchFamily="34" charset="0"/>
            </a:endParaRPr>
          </a:p>
          <a:p>
            <a:pPr eaLnBrk="1" hangingPunct="1"/>
            <a:endParaRPr lang="en-GB" sz="2200" dirty="0">
              <a:latin typeface="Trebuchet MS" panose="020B0603020202020204" pitchFamily="34" charset="0"/>
            </a:endParaRPr>
          </a:p>
          <a:p>
            <a:pPr eaLnBrk="1" hangingPunct="1"/>
            <a:r>
              <a:rPr lang="en-GB" sz="2200" dirty="0">
                <a:latin typeface="Trebuchet MS" panose="020B0603020202020204" pitchFamily="34" charset="0"/>
              </a:rPr>
              <a:t>b) The mean price for a two bedroom flat in Edinburgh is £128000 and the standard deviation is £2600. Make two valid comparisons about the prices of flats in Glasgow and Edinburgh.</a:t>
            </a:r>
            <a:endParaRPr lang="en-US" sz="22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2287</Words>
  <Application>WPS Presentation</Application>
  <PresentationFormat>Widescreen</PresentationFormat>
  <Paragraphs>126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Trebuchet MS</vt:lpstr>
      <vt:lpstr>Comic Sans MS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Falkirk Council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Shirra</dc:creator>
  <cp:lastModifiedBy>DELL</cp:lastModifiedBy>
  <cp:revision>9</cp:revision>
  <dcterms:created xsi:type="dcterms:W3CDTF">2020-03-20T14:30:00Z</dcterms:created>
  <dcterms:modified xsi:type="dcterms:W3CDTF">2025-11-30T10:26:44Z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EB98F9D3ACE2446D9EA2749604D026CE_12</vt:lpwstr>
  </property>
  <property fmtid="{D5CDD505-2E9C-101B-9397-08002B2CF9AE}" pid="3" name="KSOProductBuildVer">
    <vt:lpwstr>2057-12.2.0.23158</vt:lpwstr>
  </property>
</Properties>
</file>